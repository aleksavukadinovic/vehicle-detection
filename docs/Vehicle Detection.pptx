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EF007-64B9-4627-8D50-3FB1C78528E2}" v="4" dt="2026-07-17T14:22:48.107"/>
    <p1510:client id="{92C5D52A-A230-64DF-9CBC-4EE473BBA438}" v="29" dt="2026-07-16T22:19:31.568"/>
    <p1510:client id="{A301AEB8-28E7-5D2D-9AE3-675615391D58}" v="230" dt="2026-07-16T20:30:15.952"/>
    <p1510:client id="{D27F42AD-78AC-C8B9-2FB2-5CC69E53A38B}" v="180" dt="2026-07-16T21:08:28.977"/>
    <p1510:client id="{F64A0075-2D97-43C4-A8DA-97C0DBBAD91A}" v="20" dt="2026-07-17T13:29:46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Blind Waymo Users Revel in the Joy of Riding Alone - The New York Times">
            <a:extLst>
              <a:ext uri="{FF2B5EF4-FFF2-40B4-BE49-F238E27FC236}">
                <a16:creationId xmlns:a16="http://schemas.microsoft.com/office/drawing/2014/main" id="{D3737226-449F-7FBE-E035-11C9B73A08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4156" b="1157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36523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Detekcija vozila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49537"/>
            <a:ext cx="9144000" cy="9967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Aleksa Vukadinović 103/2022</a:t>
            </a:r>
          </a:p>
          <a:p>
            <a:r>
              <a:rPr lang="en-US">
                <a:solidFill>
                  <a:srgbClr val="FFFFFF"/>
                </a:solidFill>
              </a:rPr>
              <a:t>Maša Lazić 97/2022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4623B-20F0-DE3D-BFC9-2EC1A3CD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Uvod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3628B-8B5B-B13A-C529-19EBA50AD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200"/>
              <a:t>Cilj projekta: odrediti da li slika sadrži vozilo.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200"/>
              <a:t>Primene su beskrajne, od kamera i senzora do dronova i autonomnih vozila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200"/>
              <a:t>Akutelna tema</a:t>
            </a:r>
          </a:p>
        </p:txBody>
      </p:sp>
      <p:pic>
        <p:nvPicPr>
          <p:cNvPr id="4" name="Picture 3" descr="Image detection, recognition and image classification with machine  learning. | by Renukasoni | AITS Journal | Medium">
            <a:extLst>
              <a:ext uri="{FF2B5EF4-FFF2-40B4-BE49-F238E27FC236}">
                <a16:creationId xmlns:a16="http://schemas.microsoft.com/office/drawing/2014/main" id="{3CA72BC7-948D-FAFA-685C-DC2358CEA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7" r="4347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0037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9430-6B92-5FB6-AFB6-573AA3E0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Skup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podataka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pretprocesiranje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E527-D81A-25A3-1772-54E43C7DA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CIFAR</a:t>
            </a:r>
            <a:r>
              <a:rPr lang="en-US" b="1" dirty="0">
                <a:ea typeface="+mn-lt"/>
                <a:cs typeface="+mn-lt"/>
              </a:rPr>
              <a:t>-10</a:t>
            </a:r>
            <a:r>
              <a:rPr lang="en-US" dirty="0">
                <a:ea typeface="+mn-lt"/>
                <a:cs typeface="+mn-lt"/>
              </a:rPr>
              <a:t>: 60.000 </a:t>
            </a:r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, 32×32 RGB, 10 </a:t>
            </a:r>
            <a:r>
              <a:rPr lang="en-US" dirty="0" err="1">
                <a:ea typeface="+mn-lt"/>
                <a:cs typeface="+mn-lt"/>
              </a:rPr>
              <a:t>klasa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50k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trening</a:t>
            </a:r>
            <a:r>
              <a:rPr lang="en-US" dirty="0">
                <a:ea typeface="+mn-lt"/>
                <a:cs typeface="+mn-lt"/>
              </a:rPr>
              <a:t> / </a:t>
            </a:r>
            <a:r>
              <a:rPr lang="en-US" dirty="0" err="1">
                <a:ea typeface="+mn-lt"/>
                <a:cs typeface="+mn-lt"/>
              </a:rPr>
              <a:t>10k</a:t>
            </a:r>
            <a:r>
              <a:rPr lang="en-US" dirty="0">
                <a:ea typeface="+mn-lt"/>
                <a:cs typeface="+mn-lt"/>
              </a:rPr>
              <a:t> test)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Binarno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mapiranje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= avion, </a:t>
            </a:r>
            <a:r>
              <a:rPr lang="en-US" dirty="0" err="1">
                <a:ea typeface="+mn-lt"/>
                <a:cs typeface="+mn-lt"/>
              </a:rPr>
              <a:t>automobil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brod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kamion</a:t>
            </a:r>
            <a:r>
              <a:rPr lang="en-US" dirty="0">
                <a:ea typeface="+mn-lt"/>
                <a:cs typeface="+mn-lt"/>
              </a:rPr>
              <a:t> (4 </a:t>
            </a:r>
            <a:r>
              <a:rPr lang="en-US" dirty="0" err="1">
                <a:ea typeface="+mn-lt"/>
                <a:cs typeface="+mn-lt"/>
              </a:rPr>
              <a:t>klase</a:t>
            </a:r>
            <a:r>
              <a:rPr lang="en-US" dirty="0">
                <a:ea typeface="+mn-lt"/>
                <a:cs typeface="+mn-lt"/>
              </a:rPr>
              <a:t>) vs </a:t>
            </a:r>
            <a:r>
              <a:rPr lang="en-US" dirty="0" err="1">
                <a:ea typeface="+mn-lt"/>
                <a:cs typeface="+mn-lt"/>
              </a:rPr>
              <a:t>nije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= </a:t>
            </a:r>
            <a:r>
              <a:rPr lang="en-US" dirty="0" err="1">
                <a:ea typeface="+mn-lt"/>
                <a:cs typeface="+mn-lt"/>
              </a:rPr>
              <a:t>ptica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mačka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jelen</a:t>
            </a:r>
            <a:r>
              <a:rPr lang="en-US" dirty="0">
                <a:ea typeface="+mn-lt"/>
                <a:cs typeface="+mn-lt"/>
              </a:rPr>
              <a:t>, pas, </a:t>
            </a:r>
            <a:r>
              <a:rPr lang="en-US" dirty="0" err="1">
                <a:ea typeface="+mn-lt"/>
                <a:cs typeface="+mn-lt"/>
              </a:rPr>
              <a:t>žaba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konj</a:t>
            </a:r>
            <a:r>
              <a:rPr lang="en-US" dirty="0">
                <a:ea typeface="+mn-lt"/>
                <a:cs typeface="+mn-lt"/>
              </a:rPr>
              <a:t> (6 </a:t>
            </a:r>
            <a:r>
              <a:rPr lang="en-US" dirty="0" err="1">
                <a:ea typeface="+mn-lt"/>
                <a:cs typeface="+mn-lt"/>
              </a:rPr>
              <a:t>klasa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r>
              <a:rPr lang="en-US" b="1" dirty="0" err="1">
                <a:ea typeface="+mn-lt"/>
                <a:cs typeface="+mn-lt"/>
              </a:rPr>
              <a:t>Podela</a:t>
            </a:r>
            <a:r>
              <a:rPr lang="en-US" b="1" dirty="0">
                <a:ea typeface="+mn-lt"/>
                <a:cs typeface="+mn-lt"/>
              </a:rPr>
              <a:t> train </a:t>
            </a:r>
            <a:r>
              <a:rPr lang="en-US" b="1" dirty="0" err="1">
                <a:ea typeface="+mn-lt"/>
                <a:cs typeface="+mn-lt"/>
              </a:rPr>
              <a:t>skupa</a:t>
            </a:r>
            <a:r>
              <a:rPr lang="en-US" dirty="0">
                <a:ea typeface="+mn-lt"/>
                <a:cs typeface="+mn-lt"/>
              </a:rPr>
              <a:t>: 90% </a:t>
            </a:r>
            <a:r>
              <a:rPr lang="en-US" dirty="0" err="1">
                <a:ea typeface="+mn-lt"/>
                <a:cs typeface="+mn-lt"/>
              </a:rPr>
              <a:t>trening</a:t>
            </a:r>
            <a:r>
              <a:rPr lang="en-US" dirty="0">
                <a:ea typeface="+mn-lt"/>
                <a:cs typeface="+mn-lt"/>
              </a:rPr>
              <a:t> / 10% </a:t>
            </a:r>
            <a:r>
              <a:rPr lang="en-US" dirty="0" err="1">
                <a:ea typeface="+mn-lt"/>
                <a:cs typeface="+mn-lt"/>
              </a:rPr>
              <a:t>validacija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Crop &amp; Flip</a:t>
            </a:r>
            <a:endParaRPr lang="en-US" b="1" dirty="0">
              <a:ea typeface="+mn-lt"/>
              <a:cs typeface="+mn-lt"/>
            </a:endParaRPr>
          </a:p>
          <a:p>
            <a:r>
              <a:rPr lang="en-US" b="1" dirty="0" err="1">
                <a:ea typeface="+mn-lt"/>
                <a:cs typeface="+mn-lt"/>
              </a:rPr>
              <a:t>Normalizacija</a:t>
            </a:r>
            <a:endParaRPr lang="en-US" dirty="0" err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783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6518A-B607-40AF-93B9-AA08103D5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Arhitektura</a:t>
            </a:r>
            <a:r>
              <a:rPr lang="en-US" dirty="0"/>
              <a:t> </a:t>
            </a:r>
            <a:r>
              <a:rPr lang="en-US" dirty="0" err="1"/>
              <a:t>mreže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E98050-9E23-A6AD-BC7A-EA6B628B2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" y="2470"/>
            <a:ext cx="12177134" cy="685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6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Treniranje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b="1" dirty="0"/>
              <a:t>Optimizer i gubitak</a:t>
            </a:r>
          </a:p>
          <a:p>
            <a:r>
              <a:rPr lang="sr-Latn-RS" dirty="0"/>
              <a:t>  Optimizer: AdamW  (lr = 0.001,  weight_decay = 1e-4)</a:t>
            </a:r>
          </a:p>
          <a:p>
            <a:r>
              <a:rPr lang="sr-Latn-RS" dirty="0"/>
              <a:t>  Loss funkcija: CrossEntropyLoss</a:t>
            </a:r>
          </a:p>
          <a:p>
            <a:r>
              <a:rPr lang="sr-Latn-RS" dirty="0"/>
              <a:t>  Scheduler: CosineAnnealingLR  (T_max = 20 epoha)</a:t>
            </a:r>
          </a:p>
          <a:p>
            <a:r>
              <a:rPr lang="sr-Latn-RS" b="1" dirty="0"/>
              <a:t>Hiperparametri</a:t>
            </a:r>
          </a:p>
          <a:p>
            <a:r>
              <a:rPr lang="sr-Latn-RS" dirty="0"/>
              <a:t>  Batch size: 128  |  Epohe: 20  |  Seed: 42</a:t>
            </a:r>
          </a:p>
          <a:p>
            <a:r>
              <a:rPr lang="sr-Latn-RS" dirty="0"/>
              <a:t>  Augmentacija: RandomCrop(32, padding=4) + RandomHorizontalFlip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85B7-0A70-D2BA-2AB4-338D261B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Treniranje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5ED7-5771-3B9E-28F9-2CA16C2B8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/>
              <a:t>Validacioni skup: 10% trening podataka (5 000 slika)</a:t>
            </a:r>
            <a:endParaRPr lang="en-US"/>
          </a:p>
          <a:p>
            <a:r>
              <a:rPr lang="sr-Latn-RS" b="1"/>
              <a:t>Čuvanje modela</a:t>
            </a:r>
            <a:endParaRPr lang="en-US"/>
          </a:p>
          <a:p>
            <a:r>
              <a:rPr lang="sr-Latn-RS"/>
              <a:t>Checkpoint se čuva svaki put kad val_acc pobije dosadašnji maksimum</a:t>
            </a:r>
            <a:endParaRPr lang="en-US"/>
          </a:p>
          <a:p>
            <a:r>
              <a:rPr lang="sr-Latn-RS"/>
              <a:t>Finalna evaluacija: best model učitan na test skupu (10 000 slika)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8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Krive učenja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64327"/>
            <a:ext cx="11277600" cy="4100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Evaluacija na test skupu</a:t>
            </a:r>
          </a:p>
        </p:txBody>
      </p:sp>
      <p:sp>
        <p:nvSpPr>
          <p:cNvPr id="10" name="Card10"/>
          <p:cNvSpPr/>
          <p:nvPr/>
        </p:nvSpPr>
        <p:spPr>
          <a:xfrm>
            <a:off x="457200" y="1491600"/>
            <a:ext cx="2111520" cy="9500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 w="19050">
            <a:solidFill>
              <a:srgbClr val="4FC3F7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4FC3F7"/>
                </a:solidFill>
              </a:rPr>
              <a:t>97.27%</a:t>
            </a:r>
          </a:p>
          <a:p>
            <a:pPr algn="ctr"/>
            <a:r>
              <a:rPr lang="sr-Latn-RS" sz="1200" dirty="0">
                <a:solidFill>
                  <a:srgbClr val="94A3B8"/>
                </a:solidFill>
              </a:rPr>
              <a:t>Tačnost</a:t>
            </a:r>
          </a:p>
        </p:txBody>
      </p:sp>
      <p:sp>
        <p:nvSpPr>
          <p:cNvPr id="11" name="Card11"/>
          <p:cNvSpPr/>
          <p:nvPr/>
        </p:nvSpPr>
        <p:spPr>
          <a:xfrm>
            <a:off x="2748720" y="1491600"/>
            <a:ext cx="2111520" cy="9500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 w="19050">
            <a:solidFill>
              <a:srgbClr val="81C784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81C784"/>
                </a:solidFill>
              </a:rPr>
              <a:t>96.86%</a:t>
            </a:r>
          </a:p>
          <a:p>
            <a:pPr algn="ctr"/>
            <a:r>
              <a:rPr lang="sr-Latn-RS" sz="1200" dirty="0">
                <a:solidFill>
                  <a:srgbClr val="94A3B8"/>
                </a:solidFill>
              </a:rPr>
              <a:t>Preciznost</a:t>
            </a:r>
          </a:p>
        </p:txBody>
      </p:sp>
      <p:sp>
        <p:nvSpPr>
          <p:cNvPr id="12" name="Card12"/>
          <p:cNvSpPr/>
          <p:nvPr/>
        </p:nvSpPr>
        <p:spPr>
          <a:xfrm>
            <a:off x="5040240" y="1491600"/>
            <a:ext cx="2111520" cy="9500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 w="19050">
            <a:solidFill>
              <a:srgbClr val="FFB74D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FFB74D"/>
                </a:solidFill>
              </a:rPr>
              <a:t>96.30%</a:t>
            </a:r>
          </a:p>
          <a:p>
            <a:pPr algn="ctr"/>
            <a:r>
              <a:rPr lang="sr-Latn-RS" sz="1200" dirty="0">
                <a:solidFill>
                  <a:srgbClr val="94A3B8"/>
                </a:solidFill>
              </a:rPr>
              <a:t>Odziv</a:t>
            </a:r>
          </a:p>
        </p:txBody>
      </p:sp>
      <p:sp>
        <p:nvSpPr>
          <p:cNvPr id="13" name="Card13"/>
          <p:cNvSpPr/>
          <p:nvPr/>
        </p:nvSpPr>
        <p:spPr>
          <a:xfrm>
            <a:off x="7331760" y="1491600"/>
            <a:ext cx="2111520" cy="9500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 w="19050">
            <a:solidFill>
              <a:srgbClr val="BA68C8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BA68C8"/>
                </a:solidFill>
              </a:rPr>
              <a:t>96.58%</a:t>
            </a:r>
          </a:p>
          <a:p>
            <a:pPr algn="ctr"/>
            <a:r>
              <a:rPr lang="sr-Latn-RS" sz="1200" dirty="0">
                <a:solidFill>
                  <a:srgbClr val="94A3B8"/>
                </a:solidFill>
              </a:rPr>
              <a:t>F1 skor</a:t>
            </a:r>
          </a:p>
        </p:txBody>
      </p:sp>
      <p:sp>
        <p:nvSpPr>
          <p:cNvPr id="14" name="Card14"/>
          <p:cNvSpPr/>
          <p:nvPr/>
        </p:nvSpPr>
        <p:spPr>
          <a:xfrm>
            <a:off x="9623280" y="1491600"/>
            <a:ext cx="2111520" cy="9500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 w="19050">
            <a:solidFill>
              <a:srgbClr val="F06292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F06292"/>
                </a:solidFill>
              </a:rPr>
              <a:t>99.65%</a:t>
            </a:r>
          </a:p>
          <a:p>
            <a:pPr algn="ctr"/>
            <a:r>
              <a:rPr lang="sr-Latn-RS" sz="1200" dirty="0">
                <a:solidFill>
                  <a:srgbClr val="94A3B8"/>
                </a:solidFill>
              </a:rPr>
              <a:t>ROC-AUC</a:t>
            </a:r>
          </a:p>
        </p:txBody>
      </p:sp>
      <p:pic>
        <p:nvPicPr>
          <p:cNvPr id="20" name="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444" y="2621600"/>
            <a:ext cx="4199111" cy="377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rezultata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1610"/>
            <a:ext cx="5410200" cy="486918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451610"/>
            <a:ext cx="5410200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predikcija modela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1371600"/>
            <a:ext cx="62865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Poređenje sa baseline modelima</a:t>
            </a:r>
          </a:p>
        </p:txBody>
      </p:sp>
      <p:sp>
        <p:nvSpPr>
          <p:cNvPr id="30" name="Cell30"/>
          <p:cNvSpPr/>
          <p:nvPr/>
        </p:nvSpPr>
        <p:spPr>
          <a:xfrm>
            <a:off x="457200" y="1600200"/>
            <a:ext cx="32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r>
              <a:rPr lang="sr-Latn-RS" sz="1400" b="1" dirty="0">
                <a:solidFill>
                  <a:srgbClr val="4FC3F7"/>
                </a:solidFill>
              </a:rPr>
              <a:t>Model</a:t>
            </a:r>
          </a:p>
        </p:txBody>
      </p:sp>
      <p:sp>
        <p:nvSpPr>
          <p:cNvPr id="31" name="Cell31"/>
          <p:cNvSpPr/>
          <p:nvPr/>
        </p:nvSpPr>
        <p:spPr>
          <a:xfrm>
            <a:off x="3707200" y="1600200"/>
            <a:ext cx="18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b="1" dirty="0">
                <a:solidFill>
                  <a:srgbClr val="4FC3F7"/>
                </a:solidFill>
              </a:rPr>
              <a:t>Tačnost</a:t>
            </a:r>
          </a:p>
        </p:txBody>
      </p:sp>
      <p:sp>
        <p:nvSpPr>
          <p:cNvPr id="32" name="Cell32"/>
          <p:cNvSpPr/>
          <p:nvPr/>
        </p:nvSpPr>
        <p:spPr>
          <a:xfrm>
            <a:off x="5557200" y="1600200"/>
            <a:ext cx="18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b="1" dirty="0">
                <a:solidFill>
                  <a:srgbClr val="4FC3F7"/>
                </a:solidFill>
              </a:rPr>
              <a:t>F1</a:t>
            </a:r>
          </a:p>
        </p:txBody>
      </p:sp>
      <p:sp>
        <p:nvSpPr>
          <p:cNvPr id="33" name="Cell33"/>
          <p:cNvSpPr/>
          <p:nvPr/>
        </p:nvSpPr>
        <p:spPr>
          <a:xfrm>
            <a:off x="7407200" y="1600200"/>
            <a:ext cx="18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b="1" dirty="0">
                <a:solidFill>
                  <a:srgbClr val="4FC3F7"/>
                </a:solidFill>
              </a:rPr>
              <a:t>ROC-AUC</a:t>
            </a:r>
          </a:p>
        </p:txBody>
      </p:sp>
      <p:sp>
        <p:nvSpPr>
          <p:cNvPr id="34" name="Cell34"/>
          <p:cNvSpPr/>
          <p:nvPr/>
        </p:nvSpPr>
        <p:spPr>
          <a:xfrm>
            <a:off x="9257200" y="1600200"/>
            <a:ext cx="20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b="1" dirty="0">
                <a:solidFill>
                  <a:srgbClr val="4FC3F7"/>
                </a:solidFill>
              </a:rPr>
              <a:t>Params</a:t>
            </a:r>
          </a:p>
        </p:txBody>
      </p:sp>
      <p:sp>
        <p:nvSpPr>
          <p:cNvPr id="35" name="Cell35"/>
          <p:cNvSpPr/>
          <p:nvPr/>
        </p:nvSpPr>
        <p:spPr>
          <a:xfrm>
            <a:off x="457200" y="2336000"/>
            <a:ext cx="32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r>
              <a:rPr lang="sr-Latn-RS" sz="1400" dirty="0">
                <a:solidFill>
                  <a:srgbClr val="4FC3F7"/>
                </a:solidFill>
              </a:rPr>
              <a:t>VehicleCNN</a:t>
            </a:r>
          </a:p>
        </p:txBody>
      </p:sp>
      <p:sp>
        <p:nvSpPr>
          <p:cNvPr id="36" name="Cell36"/>
          <p:cNvSpPr/>
          <p:nvPr/>
        </p:nvSpPr>
        <p:spPr>
          <a:xfrm>
            <a:off x="3707200" y="2336000"/>
            <a:ext cx="18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4FC3F7"/>
                </a:solidFill>
              </a:rPr>
              <a:t>97.27%</a:t>
            </a:r>
          </a:p>
        </p:txBody>
      </p:sp>
      <p:sp>
        <p:nvSpPr>
          <p:cNvPr id="37" name="Cell37"/>
          <p:cNvSpPr/>
          <p:nvPr/>
        </p:nvSpPr>
        <p:spPr>
          <a:xfrm>
            <a:off x="5557200" y="2336000"/>
            <a:ext cx="18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4FC3F7"/>
                </a:solidFill>
              </a:rPr>
              <a:t>96.58%</a:t>
            </a:r>
          </a:p>
        </p:txBody>
      </p:sp>
      <p:sp>
        <p:nvSpPr>
          <p:cNvPr id="38" name="Cell38"/>
          <p:cNvSpPr/>
          <p:nvPr/>
        </p:nvSpPr>
        <p:spPr>
          <a:xfrm>
            <a:off x="7407200" y="2336000"/>
            <a:ext cx="18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4FC3F7"/>
                </a:solidFill>
              </a:rPr>
              <a:t>99.65%</a:t>
            </a:r>
          </a:p>
        </p:txBody>
      </p:sp>
      <p:sp>
        <p:nvSpPr>
          <p:cNvPr id="39" name="Cell39"/>
          <p:cNvSpPr/>
          <p:nvPr/>
        </p:nvSpPr>
        <p:spPr>
          <a:xfrm>
            <a:off x="9257200" y="2336000"/>
            <a:ext cx="2000000" cy="685800"/>
          </a:xfrm>
          <a:prstGeom prst="rect">
            <a:avLst/>
          </a:prstGeom>
          <a:solidFill>
            <a:srgbClr val="1A2744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4FC3F7"/>
                </a:solidFill>
              </a:rPr>
              <a:t>1 180 354</a:t>
            </a:r>
          </a:p>
        </p:txBody>
      </p:sp>
      <p:sp>
        <p:nvSpPr>
          <p:cNvPr id="40" name="Cell40"/>
          <p:cNvSpPr/>
          <p:nvPr/>
        </p:nvSpPr>
        <p:spPr>
          <a:xfrm>
            <a:off x="457200" y="3071800"/>
            <a:ext cx="320000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r>
              <a:rPr lang="sr-Latn-RS" sz="1400" dirty="0">
                <a:solidFill>
                  <a:srgbClr val="94A3B8"/>
                </a:solidFill>
              </a:rPr>
              <a:t>MLP (bez conv)</a:t>
            </a:r>
          </a:p>
        </p:txBody>
      </p:sp>
      <p:sp>
        <p:nvSpPr>
          <p:cNvPr id="41" name="Cell41"/>
          <p:cNvSpPr/>
          <p:nvPr/>
        </p:nvSpPr>
        <p:spPr>
          <a:xfrm>
            <a:off x="3707200" y="3071800"/>
            <a:ext cx="180000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88.04%</a:t>
            </a:r>
          </a:p>
        </p:txBody>
      </p:sp>
      <p:sp>
        <p:nvSpPr>
          <p:cNvPr id="42" name="Cell42"/>
          <p:cNvSpPr/>
          <p:nvPr/>
        </p:nvSpPr>
        <p:spPr>
          <a:xfrm>
            <a:off x="5557200" y="3071800"/>
            <a:ext cx="180000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84.97%</a:t>
            </a:r>
          </a:p>
        </p:txBody>
      </p:sp>
      <p:sp>
        <p:nvSpPr>
          <p:cNvPr id="43" name="Cell43"/>
          <p:cNvSpPr/>
          <p:nvPr/>
        </p:nvSpPr>
        <p:spPr>
          <a:xfrm>
            <a:off x="7407200" y="3071800"/>
            <a:ext cx="180000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94.34%</a:t>
            </a:r>
          </a:p>
        </p:txBody>
      </p:sp>
      <p:sp>
        <p:nvSpPr>
          <p:cNvPr id="44" name="Cell44"/>
          <p:cNvSpPr/>
          <p:nvPr/>
        </p:nvSpPr>
        <p:spPr>
          <a:xfrm>
            <a:off x="9257200" y="3071800"/>
            <a:ext cx="200000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45" name="Cell45"/>
          <p:cNvSpPr/>
          <p:nvPr/>
        </p:nvSpPr>
        <p:spPr>
          <a:xfrm>
            <a:off x="457200" y="3807600"/>
            <a:ext cx="3200000" cy="685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r>
              <a:rPr lang="sr-Latn-RS" sz="1400" dirty="0">
                <a:solidFill>
                  <a:srgbClr val="94A3B8"/>
                </a:solidFill>
              </a:rPr>
              <a:t>Logistička regresija</a:t>
            </a:r>
          </a:p>
        </p:txBody>
      </p:sp>
      <p:sp>
        <p:nvSpPr>
          <p:cNvPr id="46" name="Cell46"/>
          <p:cNvSpPr/>
          <p:nvPr/>
        </p:nvSpPr>
        <p:spPr>
          <a:xfrm>
            <a:off x="3707200" y="3807600"/>
            <a:ext cx="1800000" cy="685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81.56%</a:t>
            </a:r>
          </a:p>
        </p:txBody>
      </p:sp>
      <p:sp>
        <p:nvSpPr>
          <p:cNvPr id="47" name="Cell47"/>
          <p:cNvSpPr/>
          <p:nvPr/>
        </p:nvSpPr>
        <p:spPr>
          <a:xfrm>
            <a:off x="5557200" y="3807600"/>
            <a:ext cx="1800000" cy="685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76.08%</a:t>
            </a:r>
          </a:p>
        </p:txBody>
      </p:sp>
      <p:sp>
        <p:nvSpPr>
          <p:cNvPr id="48" name="Cell48"/>
          <p:cNvSpPr/>
          <p:nvPr/>
        </p:nvSpPr>
        <p:spPr>
          <a:xfrm>
            <a:off x="7407200" y="3807600"/>
            <a:ext cx="1800000" cy="685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87.90%</a:t>
            </a:r>
          </a:p>
        </p:txBody>
      </p:sp>
      <p:sp>
        <p:nvSpPr>
          <p:cNvPr id="49" name="Cell49"/>
          <p:cNvSpPr/>
          <p:nvPr/>
        </p:nvSpPr>
        <p:spPr>
          <a:xfrm>
            <a:off x="9257200" y="3807600"/>
            <a:ext cx="2000000" cy="685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r-Latn-RS" sz="1400" dirty="0">
                <a:solidFill>
                  <a:srgbClr val="94A3B8"/>
                </a:solidFill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Detekcija vozila</vt:lpstr>
      <vt:lpstr>Uvod</vt:lpstr>
      <vt:lpstr>Skup podataka i pretprocesiranje</vt:lpstr>
      <vt:lpstr>Arhitektura mreže</vt:lpstr>
      <vt:lpstr>Treniranje</vt:lpstr>
      <vt:lpstr>Treniranje</vt:lpstr>
      <vt:lpstr>Krive učenja</vt:lpstr>
      <vt:lpstr>Evaluacija na test skupu</vt:lpstr>
      <vt:lpstr>Analiza rezultata</vt:lpstr>
      <vt:lpstr>Primeri predikcija modela</vt:lpstr>
      <vt:lpstr>Poređenje sa baseline modelima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100</cp:revision>
  <dcterms:created xsi:type="dcterms:W3CDTF">2026-07-16T20:20:56Z</dcterms:created>
  <dcterms:modified xsi:type="dcterms:W3CDTF">2026-07-17T14:22:49Z</dcterms:modified>
</cp:coreProperties>
</file>